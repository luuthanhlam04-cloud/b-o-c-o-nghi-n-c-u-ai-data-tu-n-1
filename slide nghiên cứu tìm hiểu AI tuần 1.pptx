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48f7e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48f7e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a948f7e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a948f7e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a948f7e9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a948f7e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948f7e9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948f7e9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948f7e9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948f7e9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948f7e9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948f7e9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48f7e9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48f7e9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948f7e9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948f7e9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948f7e9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a948f7e9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7025" y="519150"/>
            <a:ext cx="8073900" cy="23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nghiên cứu về AI tuần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12175"/>
            <a:ext cx="8520600" cy="8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Lưu Thanh Lâm - B25DCTV050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09100"/>
            <a:ext cx="8520600" cy="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vi" sz="5020"/>
              <a:t>Mục lục </a:t>
            </a:r>
            <a:endParaRPr sz="50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998000" y="1323900"/>
            <a:ext cx="3834300" cy="38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dk1"/>
                </a:solidFill>
              </a:rPr>
              <a:t>5. Thư viện lập trình phổ biến : numpy, pandas, matplotlib, pytorch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dk1"/>
                </a:solidFill>
              </a:rPr>
              <a:t>6. Nguồn dữ liệu và nền tảng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2000">
                <a:solidFill>
                  <a:schemeClr val="dk1"/>
                </a:solidFill>
              </a:rPr>
              <a:t>7. Phân tích dữ liệu sơ bộ(EDA) : hiểu dữ liệu - phân tích - trực quan hoá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794900" y="1413950"/>
            <a:ext cx="4043700" cy="38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vi" sz="2000">
                <a:solidFill>
                  <a:schemeClr val="dk1"/>
                </a:solidFill>
              </a:rPr>
              <a:t>Giới thiệu về AI : khái niệm - lĩnh vực chính - các ứng dụng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vi" sz="2000">
                <a:solidFill>
                  <a:schemeClr val="dk1"/>
                </a:solidFill>
              </a:rPr>
              <a:t>Dữ liệu (Data) : định nghĩa - phân loại - vai trò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vi" sz="2000">
                <a:solidFill>
                  <a:schemeClr val="dk1"/>
                </a:solidFill>
              </a:rPr>
              <a:t>Phân loại bài toán Machine Learning : supervised - unsupervised - reinfocement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vi" sz="2000">
                <a:solidFill>
                  <a:schemeClr val="dk1"/>
                </a:solidFill>
              </a:rPr>
              <a:t>Thuật ngữ - kí hiệu nền tảng : dữ liệu và mô hình, huấn luyện, metrics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I. TỔNG QUAN VỀ TRÍ TUỆ NHÂN TẠO (AI)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336050"/>
            <a:ext cx="4260300" cy="3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50">
                <a:solidFill>
                  <a:schemeClr val="dk1"/>
                </a:solidFill>
              </a:rPr>
              <a:t>1. Khái niệm &amp; Kỹ thuật nền tảng</a:t>
            </a:r>
            <a:endParaRPr b="1"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vi" sz="1350">
                <a:solidFill>
                  <a:schemeClr val="dk1"/>
                </a:solidFill>
              </a:rPr>
              <a:t>Định nghĩa:</a:t>
            </a:r>
            <a:r>
              <a:rPr lang="vi" sz="1350">
                <a:solidFill>
                  <a:schemeClr val="dk1"/>
                </a:solidFill>
              </a:rPr>
              <a:t> Hệ thống máy tính thực hiện các nhiệm vụ cần trí tuệ con người như nhận diện, suy luận, học hỏi và ra quyết định.</a:t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vi" sz="1350">
                <a:solidFill>
                  <a:schemeClr val="dk1"/>
                </a:solidFill>
              </a:rPr>
              <a:t>Kỹ thuật:</a:t>
            </a:r>
            <a:r>
              <a:rPr lang="vi" sz="1350">
                <a:solidFill>
                  <a:schemeClr val="dk1"/>
                </a:solidFill>
              </a:rPr>
              <a:t> Sử dụng mô hình toán học, thống kê và tối ưu hóa để tìm quy luật từ dữ liệu.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chemeClr val="dk1"/>
                </a:solidFill>
              </a:rPr>
              <a:t>3. Ứng dụng thực tiễn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Đời sống:</a:t>
            </a:r>
            <a:r>
              <a:rPr lang="vi" sz="1200">
                <a:solidFill>
                  <a:schemeClr val="dk1"/>
                </a:solidFill>
              </a:rPr>
              <a:t> Nhận diện khuôn mặt, Trợ lý ảo/Chatbot, Hệ thống gợi ý (phim, hàng hóa) 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Công nghiệp &amp; Y tế:</a:t>
            </a:r>
            <a:r>
              <a:rPr lang="vi" sz="1200">
                <a:solidFill>
                  <a:schemeClr val="dk1"/>
                </a:solidFill>
              </a:rPr>
              <a:t> Xe tự lái, Chẩn đoán ảnh y khoa, Tự động hóa sản xuất, Phát hiện gian lận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83700" y="1336050"/>
            <a:ext cx="4260300" cy="3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200">
                <a:solidFill>
                  <a:schemeClr val="dk1"/>
                </a:solidFill>
              </a:rPr>
              <a:t>2. Các lĩnh vực cốt lõi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Machine Learning (ML):</a:t>
            </a:r>
            <a:r>
              <a:rPr lang="vi" sz="1200">
                <a:solidFill>
                  <a:schemeClr val="dk1"/>
                </a:solidFill>
              </a:rPr>
              <a:t> Thuật toán học từ dữ liệu để dự đoán thay vì lập trình thủ công (Gồm: Học có giám sát, không giám sát, bán giám sát, tăng cường) 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Deep Learning (DL):</a:t>
            </a:r>
            <a:r>
              <a:rPr lang="vi" sz="1200">
                <a:solidFill>
                  <a:schemeClr val="dk1"/>
                </a:solidFill>
              </a:rPr>
              <a:t> Dùng mạng nơ-ron nhiều lớp học biểu diễn từ dữ liệu phức tạp (ảnh, âm thanh) 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Xử lý ngôn ngữ (NLP):</a:t>
            </a:r>
            <a:r>
              <a:rPr lang="vi" sz="1200">
                <a:solidFill>
                  <a:schemeClr val="dk1"/>
                </a:solidFill>
              </a:rPr>
              <a:t> Phân tích, hiểu và sinh ngôn ngữ (Dịch máy, Chatbot) 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Thị giác máy tính (Computer Vision):</a:t>
            </a:r>
            <a:r>
              <a:rPr lang="vi" sz="1200">
                <a:solidFill>
                  <a:schemeClr val="dk1"/>
                </a:solidFill>
              </a:rPr>
              <a:t> Phân loại, phát hiện vật thể, tái tạo 3D 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Khác:</a:t>
            </a:r>
            <a:r>
              <a:rPr lang="vi" sz="1200">
                <a:solidFill>
                  <a:schemeClr val="dk1"/>
                </a:solidFill>
              </a:rPr>
              <a:t> Robotics (Tương tác thực tế) và Hệ chuyên gia (Suy luận dựa trên luật) 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II. DỮ LIỆU (DATA) - NỀN TẢNG CỦA AI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18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vi" sz="4727">
                <a:solidFill>
                  <a:schemeClr val="dk1"/>
                </a:solidFill>
              </a:rPr>
              <a:t>1. Định nghĩa &amp; Phân loại</a:t>
            </a:r>
            <a:endParaRPr b="1" sz="4727">
              <a:solidFill>
                <a:schemeClr val="dk1"/>
              </a:solidFill>
            </a:endParaRPr>
          </a:p>
          <a:p>
            <a:pPr indent="-30365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4727">
                <a:solidFill>
                  <a:schemeClr val="dk1"/>
                </a:solidFill>
              </a:rPr>
              <a:t>Khái niệm:</a:t>
            </a:r>
            <a:r>
              <a:rPr lang="vi" sz="4727">
                <a:solidFill>
                  <a:schemeClr val="dk1"/>
                </a:solidFill>
              </a:rPr>
              <a:t> Tập hợp các quan sát hoặc bản ghi dưới dạng số, văn bản, hình ảnh, âm thanh, tín hiệu.</a:t>
            </a:r>
            <a:endParaRPr sz="4727">
              <a:solidFill>
                <a:schemeClr val="dk1"/>
              </a:solidFill>
            </a:endParaRPr>
          </a:p>
          <a:p>
            <a:pPr indent="-3036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4727">
                <a:solidFill>
                  <a:schemeClr val="dk1"/>
                </a:solidFill>
              </a:rPr>
              <a:t>Phân loại cấu trúc:</a:t>
            </a:r>
            <a:endParaRPr b="1" sz="4727">
              <a:solidFill>
                <a:schemeClr val="dk1"/>
              </a:solidFill>
            </a:endParaRPr>
          </a:p>
          <a:p>
            <a:pPr indent="-30365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i="1" lang="vi" sz="4727">
                <a:solidFill>
                  <a:schemeClr val="dk1"/>
                </a:solidFill>
              </a:rPr>
              <a:t>Structured:</a:t>
            </a:r>
            <a:r>
              <a:rPr lang="vi" sz="4727">
                <a:solidFill>
                  <a:schemeClr val="dk1"/>
                </a:solidFill>
              </a:rPr>
              <a:t> Dạng bảng, CSDL với cột/kiểu rõ ràng.</a:t>
            </a:r>
            <a:endParaRPr sz="4727">
              <a:solidFill>
                <a:schemeClr val="dk1"/>
              </a:solidFill>
            </a:endParaRPr>
          </a:p>
          <a:p>
            <a:pPr indent="-30365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i="1" lang="vi" sz="4727">
                <a:solidFill>
                  <a:schemeClr val="dk1"/>
                </a:solidFill>
              </a:rPr>
              <a:t>Unstructured:</a:t>
            </a:r>
            <a:r>
              <a:rPr lang="vi" sz="4727">
                <a:solidFill>
                  <a:schemeClr val="dk1"/>
                </a:solidFill>
              </a:rPr>
              <a:t> Văn bản, ảnh, video (chiếm phần lớn dữ liệu thực tế).</a:t>
            </a:r>
            <a:endParaRPr sz="4727">
              <a:solidFill>
                <a:schemeClr val="dk1"/>
              </a:solidFill>
            </a:endParaRPr>
          </a:p>
          <a:p>
            <a:pPr indent="-30365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i="1" lang="vi" sz="4727">
                <a:solidFill>
                  <a:schemeClr val="dk1"/>
                </a:solidFill>
              </a:rPr>
              <a:t>Semi-structured:</a:t>
            </a:r>
            <a:r>
              <a:rPr lang="vi" sz="4727">
                <a:solidFill>
                  <a:schemeClr val="dk1"/>
                </a:solidFill>
              </a:rPr>
              <a:t> Dạng JSON, XML.</a:t>
            </a:r>
            <a:endParaRPr sz="472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750350" y="1152475"/>
            <a:ext cx="4260300" cy="18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vi" sz="4639">
                <a:solidFill>
                  <a:schemeClr val="dk1"/>
                </a:solidFill>
              </a:rPr>
              <a:t>2. Vai trò &amp; Tầm quan trọng</a:t>
            </a:r>
            <a:endParaRPr b="1" sz="4639">
              <a:solidFill>
                <a:schemeClr val="dk1"/>
              </a:solidFill>
            </a:endParaRPr>
          </a:p>
          <a:p>
            <a:pPr indent="-30224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4639">
                <a:solidFill>
                  <a:schemeClr val="dk1"/>
                </a:solidFill>
              </a:rPr>
              <a:t>Nguồn nguyên liệu:</a:t>
            </a:r>
            <a:r>
              <a:rPr lang="vi" sz="4639">
                <a:solidFill>
                  <a:schemeClr val="dk1"/>
                </a:solidFill>
              </a:rPr>
              <a:t> Model tối ưu tham số dựa trên dữ liệu; không có dữ liệu, model không thể "hiểu" thế giới .</a:t>
            </a:r>
            <a:endParaRPr sz="4639">
              <a:solidFill>
                <a:schemeClr val="dk1"/>
              </a:solidFill>
            </a:endParaRPr>
          </a:p>
          <a:p>
            <a:pPr indent="-30224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4639">
                <a:solidFill>
                  <a:schemeClr val="dk1"/>
                </a:solidFill>
              </a:rPr>
              <a:t>Chất lượng (Quality):</a:t>
            </a:r>
            <a:r>
              <a:rPr lang="vi" sz="4639">
                <a:solidFill>
                  <a:schemeClr val="dk1"/>
                </a:solidFill>
              </a:rPr>
              <a:t> Nguyên tắc "Garbage in → Garbage out" - dữ liệu sai lệch dẫn đến mô hình sai hoặc thiên kiến.</a:t>
            </a:r>
            <a:endParaRPr sz="4639">
              <a:solidFill>
                <a:schemeClr val="dk1"/>
              </a:solidFill>
            </a:endParaRPr>
          </a:p>
          <a:p>
            <a:pPr indent="-247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867"/>
              <a:buChar char="●"/>
            </a:pPr>
            <a:r>
              <a:rPr b="1" lang="vi" sz="4639">
                <a:solidFill>
                  <a:schemeClr val="dk1"/>
                </a:solidFill>
              </a:rPr>
              <a:t>Số lượng &amp; Đa dạng:</a:t>
            </a:r>
            <a:r>
              <a:rPr lang="vi" sz="4639">
                <a:solidFill>
                  <a:schemeClr val="dk1"/>
                </a:solidFill>
              </a:rPr>
              <a:t> Cần lượng dữ liệu lớn và đa dạng để model học được biểu diễn phức tạp và tránh overfitting</a:t>
            </a:r>
            <a:r>
              <a:rPr lang="vi" sz="1200">
                <a:solidFill>
                  <a:schemeClr val="dk1"/>
                </a:solidFill>
              </a:rPr>
              <a:t> 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026225" y="3023875"/>
            <a:ext cx="5969700" cy="22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150">
                <a:solidFill>
                  <a:schemeClr val="dk1"/>
                </a:solidFill>
              </a:rPr>
              <a:t>3. Các khía cạnh kỹ thuật &amp; Quản trị</a:t>
            </a:r>
            <a:endParaRPr b="1"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vi" sz="1150">
                <a:solidFill>
                  <a:schemeClr val="dk1"/>
                </a:solidFill>
              </a:rPr>
              <a:t>Nhãn (Labels):</a:t>
            </a:r>
            <a:r>
              <a:rPr lang="vi" sz="1150">
                <a:solidFill>
                  <a:schemeClr val="dk1"/>
                </a:solidFill>
              </a:rPr>
              <a:t> Yếu tố quyết định độ chính xác của học có giám sát.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vi" sz="1150">
                <a:solidFill>
                  <a:schemeClr val="dk1"/>
                </a:solidFill>
              </a:rPr>
              <a:t>Xử lý &amp; Biểu diễn:</a:t>
            </a:r>
            <a:r>
              <a:rPr lang="vi" sz="1150">
                <a:solidFill>
                  <a:schemeClr val="dk1"/>
                </a:solidFill>
              </a:rPr>
              <a:t> Bắt buộc phải làm sạch, chuẩn hóa, trích xuất đặc trưng và xử lý mất cân bằng (imbalance) 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vi" sz="1150">
                <a:solidFill>
                  <a:schemeClr val="dk1"/>
                </a:solidFill>
              </a:rPr>
              <a:t>Vòng đời dữ liệu:</a:t>
            </a:r>
            <a:r>
              <a:rPr lang="vi" sz="1150">
                <a:solidFill>
                  <a:schemeClr val="dk1"/>
                </a:solidFill>
              </a:rPr>
              <a:t> Cần chia tách (Train/Test), giám sát thay đổi của môi trường (Concept drift) để tái huấn luyện 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vi" sz="1150">
                <a:solidFill>
                  <a:schemeClr val="dk1"/>
                </a:solidFill>
              </a:rPr>
              <a:t>Ràng buộc:</a:t>
            </a:r>
            <a:r>
              <a:rPr lang="vi" sz="1150">
                <a:solidFill>
                  <a:schemeClr val="dk1"/>
                </a:solidFill>
              </a:rPr>
              <a:t> Phải tuân thủ quyền riêng tư, pháp lý và tối ưu chi phí thu thập/lưu trữ .</a:t>
            </a:r>
            <a:endParaRPr sz="11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III. 3 LOẠI BÀI TOÁN MACHINE LEARNING CHÍNH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4260300" cy="22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835"/>
              <a:buFont typeface="Arial"/>
              <a:buNone/>
            </a:pPr>
            <a:r>
              <a:rPr b="1" lang="vi" sz="3350">
                <a:solidFill>
                  <a:schemeClr val="dk1"/>
                </a:solidFill>
              </a:rPr>
              <a:t>1. Học có giám sát (Supervised Learning)</a:t>
            </a:r>
            <a:endParaRPr b="1" sz="3350">
              <a:solidFill>
                <a:schemeClr val="dk1"/>
              </a:solidFill>
            </a:endParaRPr>
          </a:p>
          <a:p>
            <a:pPr indent="-29773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3350">
                <a:solidFill>
                  <a:schemeClr val="dk1"/>
                </a:solidFill>
              </a:rPr>
              <a:t>Dữ liệu:</a:t>
            </a:r>
            <a:r>
              <a:rPr lang="vi" sz="3350">
                <a:solidFill>
                  <a:schemeClr val="dk1"/>
                </a:solidFill>
              </a:rPr>
              <a:t> Đầu vào </a:t>
            </a:r>
            <a:r>
              <a:rPr b="1" lang="vi" sz="3350">
                <a:solidFill>
                  <a:schemeClr val="dk1"/>
                </a:solidFill>
              </a:rPr>
              <a:t>có nhãn</a:t>
            </a:r>
            <a:r>
              <a:rPr lang="vi" sz="3350">
                <a:solidFill>
                  <a:schemeClr val="dk1"/>
                </a:solidFill>
              </a:rPr>
              <a:t> $(X, y)$, tức là máy được cung cấp sẵn kết quả đúng để học</a:t>
            </a:r>
            <a:r>
              <a:rPr baseline="30000" lang="vi" sz="3350">
                <a:solidFill>
                  <a:schemeClr val="dk1"/>
                </a:solidFill>
              </a:rPr>
              <a:t>1</a:t>
            </a:r>
            <a:r>
              <a:rPr lang="vi" sz="3350">
                <a:solidFill>
                  <a:schemeClr val="dk1"/>
                </a:solidFill>
              </a:rPr>
              <a:t>.</a:t>
            </a:r>
            <a:endParaRPr sz="3350">
              <a:solidFill>
                <a:schemeClr val="dk1"/>
              </a:solidFill>
            </a:endParaRPr>
          </a:p>
          <a:p>
            <a:pPr indent="-2977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3350">
                <a:solidFill>
                  <a:schemeClr val="dk1"/>
                </a:solidFill>
              </a:rPr>
              <a:t>Cơ chế:</a:t>
            </a:r>
            <a:r>
              <a:rPr lang="vi" sz="3350">
                <a:solidFill>
                  <a:schemeClr val="dk1"/>
                </a:solidFill>
              </a:rPr>
              <a:t> Tối ưu hóa sai số giữa dự đoán của mô hình và nhãn thật</a:t>
            </a:r>
            <a:r>
              <a:rPr baseline="30000" lang="vi" sz="3350">
                <a:solidFill>
                  <a:schemeClr val="dk1"/>
                </a:solidFill>
              </a:rPr>
              <a:t>2</a:t>
            </a:r>
            <a:r>
              <a:rPr lang="vi" sz="3350">
                <a:solidFill>
                  <a:schemeClr val="dk1"/>
                </a:solidFill>
              </a:rPr>
              <a:t>.</a:t>
            </a:r>
            <a:endParaRPr sz="3350">
              <a:solidFill>
                <a:schemeClr val="dk1"/>
              </a:solidFill>
            </a:endParaRPr>
          </a:p>
          <a:p>
            <a:pPr indent="-2977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3350">
                <a:solidFill>
                  <a:schemeClr val="dk1"/>
                </a:solidFill>
              </a:rPr>
              <a:t>Mục tiêu:</a:t>
            </a:r>
            <a:r>
              <a:rPr lang="vi" sz="3350">
                <a:solidFill>
                  <a:schemeClr val="dk1"/>
                </a:solidFill>
              </a:rPr>
              <a:t> Dự đoán giá trị (Hồi quy) hoặc phân loại đối tượng (Classification)</a:t>
            </a:r>
            <a:r>
              <a:rPr baseline="30000" lang="vi" sz="3350">
                <a:solidFill>
                  <a:schemeClr val="dk1"/>
                </a:solidFill>
              </a:rPr>
              <a:t>3</a:t>
            </a:r>
            <a:r>
              <a:rPr lang="vi" sz="3350">
                <a:solidFill>
                  <a:schemeClr val="dk1"/>
                </a:solidFill>
              </a:rPr>
              <a:t>.</a:t>
            </a:r>
            <a:endParaRPr sz="3350">
              <a:solidFill>
                <a:schemeClr val="dk1"/>
              </a:solidFill>
            </a:endParaRPr>
          </a:p>
          <a:p>
            <a:pPr indent="-2977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3350">
                <a:solidFill>
                  <a:schemeClr val="dk1"/>
                </a:solidFill>
              </a:rPr>
              <a:t>Ví dụ:</a:t>
            </a:r>
            <a:r>
              <a:rPr lang="vi" sz="3350">
                <a:solidFill>
                  <a:schemeClr val="dk1"/>
                </a:solidFill>
              </a:rPr>
              <a:t> Dự đoán giá nhà, phân loại email spam, chẩn đoán bệnh</a:t>
            </a:r>
            <a:r>
              <a:rPr baseline="30000" lang="vi" sz="3350">
                <a:solidFill>
                  <a:schemeClr val="dk1"/>
                </a:solidFill>
              </a:rPr>
              <a:t>4</a:t>
            </a:r>
            <a:r>
              <a:rPr lang="vi" sz="3350">
                <a:solidFill>
                  <a:schemeClr val="dk1"/>
                </a:solidFill>
              </a:rPr>
              <a:t>.</a:t>
            </a:r>
            <a:endParaRPr sz="3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0" y="1152475"/>
            <a:ext cx="4260300" cy="22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b="1" lang="vi" sz="1600">
                <a:solidFill>
                  <a:schemeClr val="dk1"/>
                </a:solidFill>
              </a:rPr>
              <a:t>2. Học không giám sát (Unsupervised Learning)</a:t>
            </a:r>
            <a:endParaRPr b="1" sz="16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600">
                <a:solidFill>
                  <a:schemeClr val="dk1"/>
                </a:solidFill>
              </a:rPr>
              <a:t>Dữ liệu:</a:t>
            </a:r>
            <a:r>
              <a:rPr lang="vi" sz="1600">
                <a:solidFill>
                  <a:schemeClr val="dk1"/>
                </a:solidFill>
              </a:rPr>
              <a:t> Đầu vào </a:t>
            </a:r>
            <a:r>
              <a:rPr b="1" lang="vi" sz="1600">
                <a:solidFill>
                  <a:schemeClr val="dk1"/>
                </a:solidFill>
              </a:rPr>
              <a:t>không nhãn</a:t>
            </a:r>
            <a:r>
              <a:rPr lang="vi" sz="1600">
                <a:solidFill>
                  <a:schemeClr val="dk1"/>
                </a:solidFill>
              </a:rPr>
              <a:t> (chỉ có $X$), máy phải tự tìm kiếm quy luật</a:t>
            </a:r>
            <a:r>
              <a:rPr baseline="30000" lang="vi" sz="1600">
                <a:solidFill>
                  <a:schemeClr val="dk1"/>
                </a:solidFill>
              </a:rPr>
              <a:t>5</a:t>
            </a:r>
            <a:r>
              <a:rPr lang="vi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600">
                <a:solidFill>
                  <a:schemeClr val="dk1"/>
                </a:solidFill>
              </a:rPr>
              <a:t>Cơ chế:</a:t>
            </a:r>
            <a:r>
              <a:rPr lang="vi" sz="1600">
                <a:solidFill>
                  <a:schemeClr val="dk1"/>
                </a:solidFill>
              </a:rPr>
              <a:t> Phân tích mật độ, sự tương đồng để gom nhóm hoặc rút gọn dữ liệu</a:t>
            </a:r>
            <a:r>
              <a:rPr baseline="30000" lang="vi" sz="1600">
                <a:solidFill>
                  <a:schemeClr val="dk1"/>
                </a:solidFill>
              </a:rPr>
              <a:t>6</a:t>
            </a:r>
            <a:r>
              <a:rPr lang="vi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600">
                <a:solidFill>
                  <a:schemeClr val="dk1"/>
                </a:solidFill>
              </a:rPr>
              <a:t>Mục tiêu:</a:t>
            </a:r>
            <a:r>
              <a:rPr lang="vi" sz="1600">
                <a:solidFill>
                  <a:schemeClr val="dk1"/>
                </a:solidFill>
              </a:rPr>
              <a:t> Khám phá cấu trúc ẩn (Pattern Discovery) hoặc giảm chiều dữ liệu</a:t>
            </a:r>
            <a:r>
              <a:rPr baseline="30000" lang="vi" sz="1600">
                <a:solidFill>
                  <a:schemeClr val="dk1"/>
                </a:solidFill>
              </a:rPr>
              <a:t>7</a:t>
            </a:r>
            <a:r>
              <a:rPr lang="vi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2997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600">
                <a:solidFill>
                  <a:schemeClr val="dk1"/>
                </a:solidFill>
              </a:rPr>
              <a:t>Ví dụ:</a:t>
            </a:r>
            <a:r>
              <a:rPr lang="vi" sz="1600">
                <a:solidFill>
                  <a:schemeClr val="dk1"/>
                </a:solidFill>
              </a:rPr>
              <a:t> Phân khúc khách hàng, gợi ý sản phẩm, phát hiện gian lận bất thường</a:t>
            </a:r>
            <a:r>
              <a:rPr baseline="30000" lang="vi" sz="1600">
                <a:solidFill>
                  <a:schemeClr val="dk1"/>
                </a:solidFill>
              </a:rPr>
              <a:t>8</a:t>
            </a:r>
            <a:endParaRPr baseline="30000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0" y="3553700"/>
            <a:ext cx="91440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vi" sz="1500">
                <a:solidFill>
                  <a:schemeClr val="dk1"/>
                </a:solidFill>
              </a:rPr>
              <a:t>3. Học tăng cường (Reinforcement Learning)</a:t>
            </a:r>
            <a:endParaRPr b="1" sz="1500">
              <a:solidFill>
                <a:schemeClr val="dk1"/>
              </a:solidFill>
            </a:endParaRPr>
          </a:p>
          <a:p>
            <a:pPr indent="-30241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500">
                <a:solidFill>
                  <a:schemeClr val="dk1"/>
                </a:solidFill>
              </a:rPr>
              <a:t>Dữ liệu:</a:t>
            </a:r>
            <a:r>
              <a:rPr lang="vi" sz="1500">
                <a:solidFill>
                  <a:schemeClr val="dk1"/>
                </a:solidFill>
              </a:rPr>
              <a:t> Dạng </a:t>
            </a:r>
            <a:r>
              <a:rPr b="1" lang="vi" sz="1500">
                <a:solidFill>
                  <a:schemeClr val="dk1"/>
                </a:solidFill>
              </a:rPr>
              <a:t>trạng thái</a:t>
            </a:r>
            <a:r>
              <a:rPr lang="vi" sz="1500">
                <a:solidFill>
                  <a:schemeClr val="dk1"/>
                </a:solidFill>
              </a:rPr>
              <a:t> (State) từ môi trường, học qua tương tác.</a:t>
            </a:r>
            <a:endParaRPr sz="1500">
              <a:solidFill>
                <a:schemeClr val="dk1"/>
              </a:solidFill>
            </a:endParaRPr>
          </a:p>
          <a:p>
            <a:pPr indent="-3024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500">
                <a:solidFill>
                  <a:schemeClr val="dk1"/>
                </a:solidFill>
              </a:rPr>
              <a:t>Cơ chế:</a:t>
            </a:r>
            <a:r>
              <a:rPr lang="vi" sz="1500">
                <a:solidFill>
                  <a:schemeClr val="dk1"/>
                </a:solidFill>
              </a:rPr>
              <a:t> Thử và Sai (Trial &amp; Error), điều chỉnh hành vi dựa trên </a:t>
            </a:r>
            <a:r>
              <a:rPr b="1" lang="vi" sz="1500">
                <a:solidFill>
                  <a:schemeClr val="dk1"/>
                </a:solidFill>
              </a:rPr>
              <a:t>Thưởng/Phạt</a:t>
            </a:r>
            <a:r>
              <a:rPr lang="vi" sz="1500">
                <a:solidFill>
                  <a:schemeClr val="dk1"/>
                </a:solidFill>
              </a:rPr>
              <a:t> (Reward/Punishment).</a:t>
            </a:r>
            <a:endParaRPr sz="1500">
              <a:solidFill>
                <a:schemeClr val="dk1"/>
              </a:solidFill>
            </a:endParaRPr>
          </a:p>
          <a:p>
            <a:pPr indent="-3024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500">
                <a:solidFill>
                  <a:schemeClr val="dk1"/>
                </a:solidFill>
              </a:rPr>
              <a:t>Mục tiêu:</a:t>
            </a:r>
            <a:r>
              <a:rPr lang="vi" sz="1500">
                <a:solidFill>
                  <a:schemeClr val="dk1"/>
                </a:solidFill>
              </a:rPr>
              <a:t> Tìm ra chiến lược hành động (Policy) để đạt tổng phần thưởng lớn nhất.</a:t>
            </a:r>
            <a:endParaRPr sz="1500">
              <a:solidFill>
                <a:schemeClr val="dk1"/>
              </a:solidFill>
            </a:endParaRPr>
          </a:p>
          <a:p>
            <a:pPr indent="-3024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500">
                <a:solidFill>
                  <a:schemeClr val="dk1"/>
                </a:solidFill>
              </a:rPr>
              <a:t>Ví dụ:</a:t>
            </a:r>
            <a:r>
              <a:rPr lang="vi" sz="1500">
                <a:solidFill>
                  <a:schemeClr val="dk1"/>
                </a:solidFill>
              </a:rPr>
              <a:t> Robot tự hành, xe tự lái, AI chơi game (AlphaGo).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0"/>
            <a:ext cx="85206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IV. CÁC THUẬT NGỮ &amp; KÝ HIỆU CỐT LÕI (TERMINOLOGY)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0" y="872700"/>
            <a:ext cx="4572000" cy="23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00">
                <a:solidFill>
                  <a:schemeClr val="dk1"/>
                </a:solidFill>
              </a:rPr>
              <a:t>1. Dữ liệu &amp; Mô hình (Data &amp; Model)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Dữ liệu: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Feature (x)</a:t>
            </a:r>
            <a:r>
              <a:rPr lang="vi" sz="1300">
                <a:solidFill>
                  <a:schemeClr val="dk1"/>
                </a:solidFill>
              </a:rPr>
              <a:t> (đặc trưng đầu vào), </a:t>
            </a:r>
            <a:r>
              <a:rPr i="1" lang="vi" sz="1300">
                <a:solidFill>
                  <a:schemeClr val="dk1"/>
                </a:solidFill>
              </a:rPr>
              <a:t>Label (y)</a:t>
            </a:r>
            <a:r>
              <a:rPr lang="vi" sz="1300">
                <a:solidFill>
                  <a:schemeClr val="dk1"/>
                </a:solidFill>
              </a:rPr>
              <a:t> (nhãn/kết quả đúng), </a:t>
            </a:r>
            <a:r>
              <a:rPr i="1" lang="vi" sz="1300">
                <a:solidFill>
                  <a:schemeClr val="dk1"/>
                </a:solidFill>
              </a:rPr>
              <a:t>Dataset</a:t>
            </a:r>
            <a:r>
              <a:rPr lang="vi" sz="1300">
                <a:solidFill>
                  <a:schemeClr val="dk1"/>
                </a:solidFill>
              </a:rPr>
              <a:t> (chia thành Train/Validation/Test).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Mô hình: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Model f(x)</a:t>
            </a:r>
            <a:r>
              <a:rPr lang="vi" sz="1300">
                <a:solidFill>
                  <a:schemeClr val="dk1"/>
                </a:solidFill>
              </a:rPr>
              <a:t> là hàm ánh xạ input đến output; </a:t>
            </a:r>
            <a:r>
              <a:rPr i="1" lang="vi" sz="1300">
                <a:solidFill>
                  <a:schemeClr val="dk1"/>
                </a:solidFill>
              </a:rPr>
              <a:t>Parameters (θ, w, b)</a:t>
            </a:r>
            <a:r>
              <a:rPr lang="vi" sz="1300">
                <a:solidFill>
                  <a:schemeClr val="dk1"/>
                </a:solidFill>
              </a:rPr>
              <a:t> là trọng số được tối ưu hóa.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572000" y="872575"/>
            <a:ext cx="4572000" cy="23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00">
                <a:solidFill>
                  <a:schemeClr val="dk1"/>
                </a:solidFill>
              </a:rPr>
              <a:t>2. Quá trình Huấn luyện (Training)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Loss Function (L):</a:t>
            </a:r>
            <a:r>
              <a:rPr lang="vi" sz="1300">
                <a:solidFill>
                  <a:schemeClr val="dk1"/>
                </a:solidFill>
              </a:rPr>
              <a:t> Hàm mất mát đo độ sai lệch giữa dự đoán và thực tế.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Optimization:</a:t>
            </a:r>
            <a:r>
              <a:rPr lang="vi" sz="1300">
                <a:solidFill>
                  <a:schemeClr val="dk1"/>
                </a:solidFill>
              </a:rPr>
              <a:t> Dùng </a:t>
            </a:r>
            <a:r>
              <a:rPr i="1" lang="vi" sz="1300">
                <a:solidFill>
                  <a:schemeClr val="dk1"/>
                </a:solidFill>
              </a:rPr>
              <a:t>Gradient Descent</a:t>
            </a:r>
            <a:r>
              <a:rPr lang="vi" sz="1300">
                <a:solidFill>
                  <a:schemeClr val="dk1"/>
                </a:solidFill>
              </a:rPr>
              <a:t> để cập nhật tham số; </a:t>
            </a:r>
            <a:r>
              <a:rPr i="1" lang="vi" sz="1300">
                <a:solidFill>
                  <a:schemeClr val="dk1"/>
                </a:solidFill>
              </a:rPr>
              <a:t>Learning rate (α)</a:t>
            </a:r>
            <a:r>
              <a:rPr lang="vi" sz="1300">
                <a:solidFill>
                  <a:schemeClr val="dk1"/>
                </a:solidFill>
              </a:rPr>
              <a:t> quyết định tốc độ học.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Hiện tượng: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Overfitting</a:t>
            </a:r>
            <a:r>
              <a:rPr lang="vi" sz="1300">
                <a:solidFill>
                  <a:schemeClr val="dk1"/>
                </a:solidFill>
              </a:rPr>
              <a:t> (học vẹt/quá khớp) và </a:t>
            </a:r>
            <a:r>
              <a:rPr i="1" lang="vi" sz="1300">
                <a:solidFill>
                  <a:schemeClr val="dk1"/>
                </a:solidFill>
              </a:rPr>
              <a:t>Underfitting</a:t>
            </a:r>
            <a:r>
              <a:rPr lang="vi" sz="1300">
                <a:solidFill>
                  <a:schemeClr val="dk1"/>
                </a:solidFill>
              </a:rPr>
              <a:t> (mô hình quá đơn giản).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1168975" y="3195300"/>
            <a:ext cx="6998400" cy="19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00">
                <a:solidFill>
                  <a:schemeClr val="dk1"/>
                </a:solidFill>
              </a:rPr>
              <a:t>3. Đánh giá (Metrics) &amp; Phân loại khác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Supervised Metrics: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Accuracy</a:t>
            </a:r>
            <a:r>
              <a:rPr lang="vi" sz="1300">
                <a:solidFill>
                  <a:schemeClr val="dk1"/>
                </a:solidFill>
              </a:rPr>
              <a:t> (độ chính xác), </a:t>
            </a:r>
            <a:r>
              <a:rPr i="1" lang="vi" sz="1300">
                <a:solidFill>
                  <a:schemeClr val="dk1"/>
                </a:solidFill>
              </a:rPr>
              <a:t>Precision/Recall/F1</a:t>
            </a:r>
            <a:r>
              <a:rPr lang="vi" sz="1300">
                <a:solidFill>
                  <a:schemeClr val="dk1"/>
                </a:solidFill>
              </a:rPr>
              <a:t> (cho phân loại), </a:t>
            </a:r>
            <a:r>
              <a:rPr i="1" lang="vi" sz="1300">
                <a:solidFill>
                  <a:schemeClr val="dk1"/>
                </a:solidFill>
              </a:rPr>
              <a:t>MSE/RMSE</a:t>
            </a:r>
            <a:r>
              <a:rPr lang="vi" sz="1300">
                <a:solidFill>
                  <a:schemeClr val="dk1"/>
                </a:solidFill>
              </a:rPr>
              <a:t> (cho hồi quy).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Deep Learning: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Neuron</a:t>
            </a:r>
            <a:r>
              <a:rPr lang="vi" sz="1300">
                <a:solidFill>
                  <a:schemeClr val="dk1"/>
                </a:solidFill>
              </a:rPr>
              <a:t>, </a:t>
            </a:r>
            <a:r>
              <a:rPr i="1" lang="vi" sz="1300">
                <a:solidFill>
                  <a:schemeClr val="dk1"/>
                </a:solidFill>
              </a:rPr>
              <a:t>Layer</a:t>
            </a:r>
            <a:r>
              <a:rPr lang="vi" sz="1300">
                <a:solidFill>
                  <a:schemeClr val="dk1"/>
                </a:solidFill>
              </a:rPr>
              <a:t>, </a:t>
            </a:r>
            <a:r>
              <a:rPr i="1" lang="vi" sz="1300">
                <a:solidFill>
                  <a:schemeClr val="dk1"/>
                </a:solidFill>
              </a:rPr>
              <a:t>CNN</a:t>
            </a:r>
            <a:r>
              <a:rPr lang="vi" sz="1300">
                <a:solidFill>
                  <a:schemeClr val="dk1"/>
                </a:solidFill>
              </a:rPr>
              <a:t> (cho ảnh), </a:t>
            </a:r>
            <a:r>
              <a:rPr i="1" lang="vi" sz="1300">
                <a:solidFill>
                  <a:schemeClr val="dk1"/>
                </a:solidFill>
              </a:rPr>
              <a:t>Transformer</a:t>
            </a:r>
            <a:r>
              <a:rPr lang="vi" sz="1300">
                <a:solidFill>
                  <a:schemeClr val="dk1"/>
                </a:solidFill>
              </a:rPr>
              <a:t> (cho ngôn ngữ).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Reinforcement Learning: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Agent</a:t>
            </a:r>
            <a:r>
              <a:rPr lang="vi" sz="1300">
                <a:solidFill>
                  <a:schemeClr val="dk1"/>
                </a:solidFill>
              </a:rPr>
              <a:t>, </a:t>
            </a:r>
            <a:r>
              <a:rPr i="1" lang="vi" sz="1300">
                <a:solidFill>
                  <a:schemeClr val="dk1"/>
                </a:solidFill>
              </a:rPr>
              <a:t>Reward</a:t>
            </a:r>
            <a:r>
              <a:rPr lang="vi" sz="1300">
                <a:solidFill>
                  <a:schemeClr val="dk1"/>
                </a:solidFill>
              </a:rPr>
              <a:t>, </a:t>
            </a:r>
            <a:r>
              <a:rPr i="1" lang="vi" sz="1300">
                <a:solidFill>
                  <a:schemeClr val="dk1"/>
                </a:solidFill>
              </a:rPr>
              <a:t>Policy</a:t>
            </a:r>
            <a:r>
              <a:rPr lang="vi" sz="1300">
                <a:solidFill>
                  <a:schemeClr val="dk1"/>
                </a:solidFill>
              </a:rPr>
              <a:t> (chiến lược), </a:t>
            </a:r>
            <a:r>
              <a:rPr i="1" lang="vi" sz="1300">
                <a:solidFill>
                  <a:schemeClr val="dk1"/>
                </a:solidFill>
              </a:rPr>
              <a:t>Episode</a:t>
            </a:r>
            <a:r>
              <a:rPr lang="vi" sz="1300">
                <a:solidFill>
                  <a:schemeClr val="dk1"/>
                </a:solidFill>
              </a:rPr>
              <a:t> (lượt chơi).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0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V. CÁC THƯ VIỆN LẬP TRÌNH AI PHỔ BIẾN (PYTHON)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0" y="1152475"/>
            <a:ext cx="4572000" cy="17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vi" sz="1700">
                <a:solidFill>
                  <a:schemeClr val="dk1"/>
                </a:solidFill>
              </a:rPr>
              <a:t>1. Numpy (Numerical Python)</a:t>
            </a:r>
            <a:endParaRPr b="1" sz="17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700">
                <a:solidFill>
                  <a:schemeClr val="dk1"/>
                </a:solidFill>
              </a:rPr>
              <a:t>Chức năng:</a:t>
            </a:r>
            <a:r>
              <a:rPr lang="vi" sz="1700">
                <a:solidFill>
                  <a:schemeClr val="dk1"/>
                </a:solidFill>
              </a:rPr>
              <a:t> Tính toán số học, xử lý mảng (array) và ma trận đa chiều hiệu năng cao.</a:t>
            </a:r>
            <a:endParaRPr sz="1700">
              <a:solidFill>
                <a:schemeClr val="dk1"/>
              </a:solidFill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vi" sz="1700">
                <a:solidFill>
                  <a:schemeClr val="dk1"/>
                </a:solidFill>
              </a:rPr>
              <a:t>Đặc điểm:</a:t>
            </a:r>
            <a:r>
              <a:rPr lang="vi" sz="1700">
                <a:solidFill>
                  <a:schemeClr val="dk1"/>
                </a:solidFill>
              </a:rPr>
              <a:t> Nền tảng cốt lõi cho các thư viện khác; xử lý cực nhanh nhưng không mạnh về dữ liệu phi cấu trúc.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0" y="3050550"/>
            <a:ext cx="4572000" cy="17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200">
                <a:solidFill>
                  <a:schemeClr val="dk1"/>
                </a:solidFill>
              </a:rPr>
              <a:t>3. Matplotlib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Chức năng:</a:t>
            </a:r>
            <a:r>
              <a:rPr lang="vi" sz="1200">
                <a:solidFill>
                  <a:schemeClr val="dk1"/>
                </a:solidFill>
              </a:rPr>
              <a:t> Trực quan hóa dữ liệu 2D (biểu đồ đường, phân tán, cột...).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Đặc điểm:</a:t>
            </a:r>
            <a:r>
              <a:rPr lang="vi" sz="1200">
                <a:solidFill>
                  <a:schemeClr val="dk1"/>
                </a:solidFill>
              </a:rPr>
              <a:t> Khả năng tùy chỉnh cao (mọi thành phần) nhưng cú pháp phức tạp, khó vẽ biểu đồ động.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696650" y="1152475"/>
            <a:ext cx="4447500" cy="17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200">
                <a:solidFill>
                  <a:schemeClr val="dk1"/>
                </a:solidFill>
              </a:rPr>
              <a:t>2. Pandas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Chức năng:</a:t>
            </a:r>
            <a:r>
              <a:rPr lang="vi" sz="1200">
                <a:solidFill>
                  <a:schemeClr val="dk1"/>
                </a:solidFill>
              </a:rPr>
              <a:t> Thao tác dữ liệu dạng bảng (DataFrame), hỗ trợ lọc, nhóm, nhập/xuất file (CSV, Excel).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Đặc điểm:</a:t>
            </a:r>
            <a:r>
              <a:rPr lang="vi" sz="1200">
                <a:solidFill>
                  <a:schemeClr val="dk1"/>
                </a:solidFill>
              </a:rPr>
              <a:t> Linh hoạt, trực quan, giống SQL nhưng tốn bộ nhớ với dữ liệu lớn.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696650" y="3050550"/>
            <a:ext cx="4447500" cy="17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200">
                <a:solidFill>
                  <a:schemeClr val="dk1"/>
                </a:solidFill>
              </a:rPr>
              <a:t>4. PyTorch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Chức năng:</a:t>
            </a:r>
            <a:r>
              <a:rPr lang="vi" sz="1200">
                <a:solidFill>
                  <a:schemeClr val="dk1"/>
                </a:solidFill>
              </a:rPr>
              <a:t> Xây dựng mô hình Deep Learning, hỗ trợ tính toán trên GPU và tự động tính đạo hàm.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vi" sz="1200">
                <a:solidFill>
                  <a:schemeClr val="dk1"/>
                </a:solidFill>
              </a:rPr>
              <a:t>Đặc điểm:</a:t>
            </a:r>
            <a:r>
              <a:rPr lang="vi" sz="1200">
                <a:solidFill>
                  <a:schemeClr val="dk1"/>
                </a:solidFill>
              </a:rPr>
              <a:t> Cú pháp "Pythonic" dễ học, cộng đồng lớn, được Facebook phát triển.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0"/>
            <a:ext cx="8520600" cy="5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VI. NGUỒN DỮ LIỆU &amp; CÁC NỀN TẢNG HỖ TRỢ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0" y="1152475"/>
            <a:ext cx="4572000" cy="21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00">
                <a:solidFill>
                  <a:schemeClr val="dk1"/>
                </a:solidFill>
              </a:rPr>
              <a:t>1. Phân loại nguồn dữ liệu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Nguồn có sẵn:</a:t>
            </a:r>
            <a:r>
              <a:rPr lang="vi" sz="1300">
                <a:solidFill>
                  <a:schemeClr val="dk1"/>
                </a:solidFill>
              </a:rPr>
              <a:t> Dữ liệu mở (Chính phủ), API công khai, Dữ liệu doanh nghiệp nội bộ.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Thu thập thủ công:</a:t>
            </a:r>
            <a:r>
              <a:rPr lang="vi" sz="1300">
                <a:solidFill>
                  <a:schemeClr val="dk1"/>
                </a:solidFill>
              </a:rPr>
              <a:t> Web scraping, Khảo sát (Survey), Tín hiệu cảm biến (IoT/Sensor).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572000" y="1152475"/>
            <a:ext cx="4572000" cy="21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00">
                <a:solidFill>
                  <a:schemeClr val="dk1"/>
                </a:solidFill>
              </a:rPr>
              <a:t>2. Kaggle (Kho dữ liệu &amp; Cuộc thi)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Vai trò:</a:t>
            </a:r>
            <a:r>
              <a:rPr lang="vi" sz="1300">
                <a:solidFill>
                  <a:schemeClr val="dk1"/>
                </a:solidFill>
              </a:rPr>
              <a:t> Nền tảng lớn nhất cho các cuộc thi Data Science và chia sẻ dataset.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Dataset kinh điển:</a:t>
            </a:r>
            <a:r>
              <a:rPr lang="vi" sz="1300">
                <a:solidFill>
                  <a:schemeClr val="dk1"/>
                </a:solidFill>
              </a:rPr>
              <a:t> </a:t>
            </a:r>
            <a:r>
              <a:rPr i="1" lang="vi" sz="1300">
                <a:solidFill>
                  <a:schemeClr val="dk1"/>
                </a:solidFill>
              </a:rPr>
              <a:t>Titanic</a:t>
            </a:r>
            <a:r>
              <a:rPr lang="vi" sz="1300">
                <a:solidFill>
                  <a:schemeClr val="dk1"/>
                </a:solidFill>
              </a:rPr>
              <a:t> (phân loại), </a:t>
            </a:r>
            <a:r>
              <a:rPr i="1" lang="vi" sz="1300">
                <a:solidFill>
                  <a:schemeClr val="dk1"/>
                </a:solidFill>
              </a:rPr>
              <a:t>House Prices</a:t>
            </a:r>
            <a:r>
              <a:rPr lang="vi" sz="1300">
                <a:solidFill>
                  <a:schemeClr val="dk1"/>
                </a:solidFill>
              </a:rPr>
              <a:t> (hồi quy), </a:t>
            </a:r>
            <a:r>
              <a:rPr i="1" lang="vi" sz="1300">
                <a:solidFill>
                  <a:schemeClr val="dk1"/>
                </a:solidFill>
              </a:rPr>
              <a:t>MNIST</a:t>
            </a:r>
            <a:r>
              <a:rPr lang="vi" sz="1300">
                <a:solidFill>
                  <a:schemeClr val="dk1"/>
                </a:solidFill>
              </a:rPr>
              <a:t> (nhận diện chữ số), </a:t>
            </a:r>
            <a:r>
              <a:rPr i="1" lang="vi" sz="1300">
                <a:solidFill>
                  <a:schemeClr val="dk1"/>
                </a:solidFill>
              </a:rPr>
              <a:t>Netflix/IMDB</a:t>
            </a:r>
            <a:r>
              <a:rPr lang="vi" sz="1300">
                <a:solidFill>
                  <a:schemeClr val="dk1"/>
                </a:solidFill>
              </a:rPr>
              <a:t> (gợi ý/cảm xúc).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1371600" y="3319900"/>
            <a:ext cx="6063000" cy="18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300">
                <a:solidFill>
                  <a:schemeClr val="dk1"/>
                </a:solidFill>
              </a:rPr>
              <a:t>3. Hugging Face (Cộng đồng Mã nguồn mở)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Vai trò:</a:t>
            </a:r>
            <a:r>
              <a:rPr lang="vi" sz="1300">
                <a:solidFill>
                  <a:schemeClr val="dk1"/>
                </a:solidFill>
              </a:rPr>
              <a:t> Tập trung vào NLP và Multimodal, cung cấp kho mô hình (Model Hub) và dataset lớn.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vi" sz="1300">
                <a:solidFill>
                  <a:schemeClr val="dk1"/>
                </a:solidFill>
              </a:rPr>
              <a:t>Công cụ:</a:t>
            </a:r>
            <a:r>
              <a:rPr lang="vi" sz="1300">
                <a:solidFill>
                  <a:schemeClr val="dk1"/>
                </a:solidFill>
              </a:rPr>
              <a:t> Thư viện </a:t>
            </a:r>
            <a:r>
              <a:rPr i="1" lang="vi" sz="1300">
                <a:solidFill>
                  <a:schemeClr val="dk1"/>
                </a:solidFill>
              </a:rPr>
              <a:t>Transformers</a:t>
            </a:r>
            <a:r>
              <a:rPr lang="vi" sz="1300">
                <a:solidFill>
                  <a:schemeClr val="dk1"/>
                </a:solidFill>
              </a:rPr>
              <a:t> để chạy mô hình, </a:t>
            </a:r>
            <a:r>
              <a:rPr i="1" lang="vi" sz="1300">
                <a:solidFill>
                  <a:schemeClr val="dk1"/>
                </a:solidFill>
              </a:rPr>
              <a:t>Spaces</a:t>
            </a:r>
            <a:r>
              <a:rPr lang="vi" sz="1300">
                <a:solidFill>
                  <a:schemeClr val="dk1"/>
                </a:solidFill>
              </a:rPr>
              <a:t> để demo ứng dụng web.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0"/>
            <a:ext cx="8520600" cy="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VII. PHÂN TÍCH DỮ LIỆU SƠ BỘ (EDA)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0" y="1152475"/>
            <a:ext cx="4572000" cy="21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400">
                <a:solidFill>
                  <a:schemeClr val="dk1"/>
                </a:solidFill>
              </a:rPr>
              <a:t> Hiểu dữ liệu (Data Understanding)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 sz="1400">
                <a:solidFill>
                  <a:schemeClr val="dk1"/>
                </a:solidFill>
              </a:rPr>
              <a:t>Kiểm tra cấu trúc:</a:t>
            </a:r>
            <a:r>
              <a:rPr lang="vi" sz="1400">
                <a:solidFill>
                  <a:schemeClr val="dk1"/>
                </a:solidFill>
              </a:rPr>
              <a:t> Số lượng dòng/cột (Shape), định dạng file.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 sz="1400">
                <a:solidFill>
                  <a:schemeClr val="dk1"/>
                </a:solidFill>
              </a:rPr>
              <a:t>Đánh giá chất lượng:</a:t>
            </a:r>
            <a:r>
              <a:rPr lang="vi" sz="1400">
                <a:solidFill>
                  <a:schemeClr val="dk1"/>
                </a:solidFill>
              </a:rPr>
              <a:t> Phát hiện giá trị thiếu (Null/NaN), dữ liệu trùng lặp (Duplicates) và lỗi định dạng.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4572000" y="1152475"/>
            <a:ext cx="4572000" cy="21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400">
                <a:solidFill>
                  <a:schemeClr val="dk1"/>
                </a:solidFill>
              </a:rPr>
              <a:t>Bước 2: Phân tích thống kê (Data Analysis)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 sz="1400">
                <a:solidFill>
                  <a:schemeClr val="dk1"/>
                </a:solidFill>
              </a:rPr>
              <a:t>Xu hướng tập trung:</a:t>
            </a:r>
            <a:r>
              <a:rPr lang="vi" sz="1400">
                <a:solidFill>
                  <a:schemeClr val="dk1"/>
                </a:solidFill>
              </a:rPr>
              <a:t> Tính Mean (trung bình), Median (trung vị), Mode (yếu vị).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 sz="1400">
                <a:solidFill>
                  <a:schemeClr val="dk1"/>
                </a:solidFill>
              </a:rPr>
              <a:t>Độ phân tán:</a:t>
            </a:r>
            <a:r>
              <a:rPr lang="vi" sz="1400">
                <a:solidFill>
                  <a:schemeClr val="dk1"/>
                </a:solidFill>
              </a:rPr>
              <a:t> Variance, Standard Deviation (độ lệch chuẩn) để xem độ biến động.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 sz="1400">
                <a:solidFill>
                  <a:schemeClr val="dk1"/>
                </a:solidFill>
              </a:rPr>
              <a:t>Tương quan:</a:t>
            </a:r>
            <a:r>
              <a:rPr lang="vi" sz="1400">
                <a:solidFill>
                  <a:schemeClr val="dk1"/>
                </a:solidFill>
              </a:rPr>
              <a:t> Dùng hệ số Pearson/Spearman để xem mối quan hệ giữa các biến.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888425" y="3288775"/>
            <a:ext cx="7746300" cy="18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400">
                <a:solidFill>
                  <a:schemeClr val="dk1"/>
                </a:solidFill>
              </a:rPr>
              <a:t>Bước 3: Trực quan hóa (Visualization)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vi" sz="1400">
                <a:solidFill>
                  <a:schemeClr val="dk1"/>
                </a:solidFill>
              </a:rPr>
              <a:t>Đơn biến:</a:t>
            </a:r>
            <a:r>
              <a:rPr lang="vi" sz="1400">
                <a:solidFill>
                  <a:schemeClr val="dk1"/>
                </a:solidFill>
              </a:rPr>
              <a:t> </a:t>
            </a:r>
            <a:r>
              <a:rPr i="1" lang="vi" sz="1400">
                <a:solidFill>
                  <a:schemeClr val="dk1"/>
                </a:solidFill>
              </a:rPr>
              <a:t>Histogram</a:t>
            </a:r>
            <a:r>
              <a:rPr lang="vi" sz="1400">
                <a:solidFill>
                  <a:schemeClr val="dk1"/>
                </a:solidFill>
              </a:rPr>
              <a:t> (phân phối), </a:t>
            </a:r>
            <a:r>
              <a:rPr i="1" lang="vi" sz="1400">
                <a:solidFill>
                  <a:schemeClr val="dk1"/>
                </a:solidFill>
              </a:rPr>
              <a:t>Boxplot</a:t>
            </a:r>
            <a:r>
              <a:rPr lang="vi" sz="1400">
                <a:solidFill>
                  <a:schemeClr val="dk1"/>
                </a:solidFill>
              </a:rPr>
              <a:t> (tìm điểm ngoại lai - outliers).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vi" sz="1400">
                <a:solidFill>
                  <a:schemeClr val="dk1"/>
                </a:solidFill>
              </a:rPr>
              <a:t>Đa biến:</a:t>
            </a:r>
            <a:r>
              <a:rPr lang="vi" sz="1400">
                <a:solidFill>
                  <a:schemeClr val="dk1"/>
                </a:solidFill>
              </a:rPr>
              <a:t> </a:t>
            </a:r>
            <a:r>
              <a:rPr i="1" lang="vi" sz="1400">
                <a:solidFill>
                  <a:schemeClr val="dk1"/>
                </a:solidFill>
              </a:rPr>
              <a:t>Scatter Plot</a:t>
            </a:r>
            <a:r>
              <a:rPr lang="vi" sz="1400">
                <a:solidFill>
                  <a:schemeClr val="dk1"/>
                </a:solidFill>
              </a:rPr>
              <a:t> (quan hệ 2 biến), </a:t>
            </a:r>
            <a:r>
              <a:rPr i="1" lang="vi" sz="1400">
                <a:solidFill>
                  <a:schemeClr val="dk1"/>
                </a:solidFill>
              </a:rPr>
              <a:t>Heatmap</a:t>
            </a:r>
            <a:r>
              <a:rPr lang="vi" sz="1400">
                <a:solidFill>
                  <a:schemeClr val="dk1"/>
                </a:solidFill>
              </a:rPr>
              <a:t> (ma trận tương quan), </a:t>
            </a:r>
            <a:r>
              <a:rPr i="1" lang="vi" sz="1400">
                <a:solidFill>
                  <a:schemeClr val="dk1"/>
                </a:solidFill>
              </a:rPr>
              <a:t>Pair Plot</a:t>
            </a:r>
            <a:r>
              <a:rPr lang="vi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3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    </a:t>
            </a:r>
            <a:r>
              <a:rPr lang="vi" sz="5500"/>
              <a:t> </a:t>
            </a:r>
            <a:r>
              <a:rPr lang="vi" sz="6100"/>
              <a:t>Thanks for watching</a:t>
            </a:r>
            <a:endParaRPr sz="6100"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4442125"/>
            <a:ext cx="8520600" cy="1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